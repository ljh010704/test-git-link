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144000" y="914400"/>
            <a:ext cx="2743200" cy="2743200"/>
          </a:xfrm>
          <a:prstGeom prst="ellipse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4572000"/>
            <a:ext cx="1828800" cy="1828800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0" y="5029200"/>
            <a:ext cx="1371600" cy="1371600"/>
          </a:xfrm>
          <a:prstGeom prst="ellipse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Microsoft YaHei"/>
              </a:defRPr>
            </a:pPr>
            <a:r>
              <a:t>珍爱生命  预防溺水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747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4FC3F7"/>
                </a:solidFill>
                <a:latin typeface="Microsoft YaHei"/>
              </a:defRPr>
            </a:pPr>
            <a:r>
              <a:t>初中生暑假安全教育主题班会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BBDEFB"/>
                </a:solidFill>
                <a:latin typeface="Microsoft YaHei"/>
              </a:defRPr>
            </a:pPr>
            <a:r>
              <a:t>安全第一 | 珍爱生命 | 远离危险水域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F2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Wave 1"/>
          <p:cNvSpPr/>
          <p:nvPr/>
        </p:nvSpPr>
        <p:spPr>
          <a:xfrm>
            <a:off x="0" y="5486400"/>
            <a:ext cx="12191695" cy="1371600"/>
          </a:xfrm>
          <a:prstGeom prst="wave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D47A1"/>
                </a:solidFill>
                <a:latin typeface="Microsoft YaHei"/>
              </a:defRPr>
            </a:pPr>
            <a:r>
              <a:t>溺水——青少年意外死亡的头号杀手</a:t>
            </a:r>
          </a:p>
        </p:txBody>
      </p:sp>
      <p:sp>
        <p:nvSpPr>
          <p:cNvPr id="4" name="Oval 3"/>
          <p:cNvSpPr/>
          <p:nvPr/>
        </p:nvSpPr>
        <p:spPr>
          <a:xfrm>
            <a:off x="1371600" y="1828800"/>
            <a:ext cx="2011680" cy="20116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10312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E53935"/>
                </a:solidFill>
                <a:latin typeface="Microsoft YaHei"/>
              </a:defRPr>
            </a:pPr>
            <a:r>
              <a:t>每年约5.7万人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83464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1A232E"/>
                </a:solidFill>
                <a:latin typeface="Microsoft YaHei"/>
              </a:defRPr>
            </a:pPr>
            <a:r>
              <a:t>死于溺水</a:t>
            </a:r>
          </a:p>
        </p:txBody>
      </p:sp>
      <p:sp>
        <p:nvSpPr>
          <p:cNvPr id="7" name="Oval 6"/>
          <p:cNvSpPr/>
          <p:nvPr/>
        </p:nvSpPr>
        <p:spPr>
          <a:xfrm>
            <a:off x="4846320" y="1828800"/>
            <a:ext cx="2011680" cy="20116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0" y="210312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9800"/>
                </a:solidFill>
                <a:latin typeface="Microsoft YaHei"/>
              </a:defRPr>
            </a:pPr>
            <a:r>
              <a:t>其中中小学生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283464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1A232E"/>
                </a:solidFill>
                <a:latin typeface="Microsoft YaHei"/>
              </a:defRPr>
            </a:pPr>
            <a:r>
              <a:t>占比超过60%</a:t>
            </a:r>
          </a:p>
        </p:txBody>
      </p:sp>
      <p:sp>
        <p:nvSpPr>
          <p:cNvPr id="10" name="Oval 9"/>
          <p:cNvSpPr/>
          <p:nvPr/>
        </p:nvSpPr>
        <p:spPr>
          <a:xfrm>
            <a:off x="8321040" y="1828800"/>
            <a:ext cx="2011680" cy="20116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210312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D47A1"/>
                </a:solidFill>
                <a:latin typeface="Microsoft YaHei"/>
              </a:defRPr>
            </a:pPr>
            <a:r>
              <a:t>暑假7-8月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83464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1A232E"/>
                </a:solidFill>
                <a:latin typeface="Microsoft YaHei"/>
              </a:defRPr>
            </a:pPr>
            <a:r>
              <a:t>事故高发期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572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A232E"/>
                </a:solidFill>
                <a:latin typeface="Microsoft YaHei"/>
              </a:defRPr>
            </a:pPr>
            <a:r>
              <a:t>据国家卫健委统计，溺水是我国1-14岁儿童意外死亡的第一位原因。</a:t>
            </a:r>
            <a:br/>
            <a:r>
              <a:t>每一起溺水事故的背后，都是一个家庭的破碎。</a:t>
            </a:r>
            <a:br/>
            <a:r>
              <a:t>防溺水安全教育，刻不容缓！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F2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Wave 1"/>
          <p:cNvSpPr/>
          <p:nvPr/>
        </p:nvSpPr>
        <p:spPr>
          <a:xfrm>
            <a:off x="0" y="5486400"/>
            <a:ext cx="12191695" cy="1371600"/>
          </a:xfrm>
          <a:prstGeom prst="wave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53935"/>
                </a:solidFill>
                <a:latin typeface="Microsoft YaHei"/>
              </a:defRPr>
            </a:pPr>
            <a:r>
              <a:t>⚠️ 这些地方很危险！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A232E"/>
                </a:solidFill>
                <a:latin typeface="Microsoft YaHei"/>
              </a:defRPr>
            </a:pPr>
            <a:r>
              <a:t>看似平静的水面下，可能暗藏漩涡、暗流、水草和淤泥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47472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CD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53935"/>
                </a:solidFill>
                <a:latin typeface="Microsoft YaHei"/>
              </a:defRPr>
            </a:pPr>
            <a:r>
              <a:t>野外河流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37744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232E"/>
                </a:solidFill>
                <a:latin typeface="Microsoft YaHei"/>
              </a:defRPr>
            </a:pPr>
            <a:r>
              <a:t>水流湍急，水下地形复杂</a:t>
            </a:r>
            <a:br/>
            <a:r>
              <a:t>暗流漩涡多，水温温差大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59" y="1645920"/>
            <a:ext cx="347472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CD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79" y="182880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53935"/>
                </a:solidFill>
                <a:latin typeface="Microsoft YaHei"/>
              </a:defRPr>
            </a:pPr>
            <a:r>
              <a:t>水库/湖泊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79" y="237744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232E"/>
                </a:solidFill>
                <a:latin typeface="Microsoft YaHei"/>
              </a:defRPr>
            </a:pPr>
            <a:r>
              <a:t>水深不可测，水温低</a:t>
            </a:r>
            <a:br/>
            <a:r>
              <a:t>容易抽筋，淤泥陷人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598" y="1645920"/>
            <a:ext cx="347472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CD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18" y="182880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53935"/>
                </a:solidFill>
                <a:latin typeface="Microsoft YaHei"/>
              </a:defRPr>
            </a:pPr>
            <a:r>
              <a:t>海边/江边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18" y="237744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232E"/>
                </a:solidFill>
                <a:latin typeface="Microsoft YaHei"/>
              </a:defRPr>
            </a:pPr>
            <a:r>
              <a:t>潮汐暗流，离岸流</a:t>
            </a:r>
            <a:br/>
            <a:r>
              <a:t>无救生设施，救援困难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023360"/>
            <a:ext cx="347472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CD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2062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53935"/>
                </a:solidFill>
                <a:latin typeface="Microsoft YaHei"/>
              </a:defRPr>
            </a:pPr>
            <a:r>
              <a:t>工地水坑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75488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232E"/>
                </a:solidFill>
                <a:latin typeface="Microsoft YaHei"/>
              </a:defRPr>
            </a:pPr>
            <a:r>
              <a:t>雨后积水，边沿松软</a:t>
            </a:r>
            <a:br/>
            <a:r>
              <a:t>隐蔽危险，无人看管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80559" y="4023360"/>
            <a:ext cx="347472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CD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79" y="42062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53935"/>
                </a:solidFill>
                <a:latin typeface="Microsoft YaHei"/>
              </a:defRPr>
            </a:pPr>
            <a:r>
              <a:t>池塘/沟渠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79" y="475488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232E"/>
                </a:solidFill>
                <a:latin typeface="Microsoft YaHei"/>
              </a:defRPr>
            </a:pPr>
            <a:r>
              <a:t>水质浑浊，暗藏水草</a:t>
            </a:r>
            <a:br/>
            <a:r>
              <a:t>深浅不一，容易滑落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t>防溺水六不准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4FC3F7"/>
                </a:solidFill>
                <a:latin typeface="Microsoft YaHei"/>
              </a:defRPr>
            </a:pPr>
            <a:r>
              <a:t>每一位同学都必须牢记于心！</a:t>
            </a:r>
          </a:p>
        </p:txBody>
      </p:sp>
      <p:sp>
        <p:nvSpPr>
          <p:cNvPr id="4" name="Oval 3"/>
          <p:cNvSpPr/>
          <p:nvPr/>
        </p:nvSpPr>
        <p:spPr>
          <a:xfrm>
            <a:off x="1371600" y="1671320"/>
            <a:ext cx="502920" cy="502920"/>
          </a:xfrm>
          <a:prstGeom prst="ellipse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16459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FFFFF"/>
                </a:solidFill>
                <a:latin typeface="Microsoft YaHei"/>
              </a:defRPr>
            </a:pPr>
            <a:r>
              <a:t>不准私自下水游泳</a:t>
            </a:r>
          </a:p>
        </p:txBody>
      </p:sp>
      <p:sp>
        <p:nvSpPr>
          <p:cNvPr id="6" name="Oval 5"/>
          <p:cNvSpPr/>
          <p:nvPr/>
        </p:nvSpPr>
        <p:spPr>
          <a:xfrm>
            <a:off x="1371600" y="2448560"/>
            <a:ext cx="502920" cy="502920"/>
          </a:xfrm>
          <a:prstGeom prst="ellipse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2423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FFFFF"/>
                </a:solidFill>
                <a:latin typeface="Microsoft YaHei"/>
              </a:defRPr>
            </a:pPr>
            <a:r>
              <a:t>不准擅自与他人结伴游泳</a:t>
            </a:r>
          </a:p>
        </p:txBody>
      </p:sp>
      <p:sp>
        <p:nvSpPr>
          <p:cNvPr id="8" name="Oval 7"/>
          <p:cNvSpPr/>
          <p:nvPr/>
        </p:nvSpPr>
        <p:spPr>
          <a:xfrm>
            <a:off x="1371600" y="3225800"/>
            <a:ext cx="502920" cy="502920"/>
          </a:xfrm>
          <a:prstGeom prst="ellipse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32004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FFFFF"/>
                </a:solidFill>
                <a:latin typeface="Microsoft YaHei"/>
              </a:defRPr>
            </a:pPr>
            <a:r>
              <a:t>不准在无家长或老师带领的情况下游泳</a:t>
            </a:r>
          </a:p>
        </p:txBody>
      </p:sp>
      <p:sp>
        <p:nvSpPr>
          <p:cNvPr id="10" name="Oval 9"/>
          <p:cNvSpPr/>
          <p:nvPr/>
        </p:nvSpPr>
        <p:spPr>
          <a:xfrm>
            <a:off x="1371600" y="4003040"/>
            <a:ext cx="502920" cy="502920"/>
          </a:xfrm>
          <a:prstGeom prst="ellipse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39776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FFFFF"/>
                </a:solidFill>
                <a:latin typeface="Microsoft YaHei"/>
              </a:defRPr>
            </a:pPr>
            <a:r>
              <a:t>不准到无安全设施、无救护人员的水域游泳</a:t>
            </a:r>
          </a:p>
        </p:txBody>
      </p:sp>
      <p:sp>
        <p:nvSpPr>
          <p:cNvPr id="12" name="Oval 11"/>
          <p:cNvSpPr/>
          <p:nvPr/>
        </p:nvSpPr>
        <p:spPr>
          <a:xfrm>
            <a:off x="1371600" y="4780280"/>
            <a:ext cx="502920" cy="502920"/>
          </a:xfrm>
          <a:prstGeom prst="ellipse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4754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FFFFF"/>
                </a:solidFill>
                <a:latin typeface="Microsoft YaHei"/>
              </a:defRPr>
            </a:pPr>
            <a:r>
              <a:t>不准到不熟悉的水域游泳</a:t>
            </a:r>
          </a:p>
        </p:txBody>
      </p:sp>
      <p:sp>
        <p:nvSpPr>
          <p:cNvPr id="14" name="Oval 13"/>
          <p:cNvSpPr/>
          <p:nvPr/>
        </p:nvSpPr>
        <p:spPr>
          <a:xfrm>
            <a:off x="1371600" y="5557520"/>
            <a:ext cx="502920" cy="502920"/>
          </a:xfrm>
          <a:prstGeom prst="ellipse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55321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FFFFF"/>
                </a:solidFill>
                <a:latin typeface="Microsoft YaHei"/>
              </a:defRPr>
            </a:pPr>
            <a:r>
              <a:t>不准不熟悉水性的学生擅自下水施救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F2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Wave 1"/>
          <p:cNvSpPr/>
          <p:nvPr/>
        </p:nvSpPr>
        <p:spPr>
          <a:xfrm>
            <a:off x="0" y="5486400"/>
            <a:ext cx="12191695" cy="1371600"/>
          </a:xfrm>
          <a:prstGeom prst="wave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D47A1"/>
                </a:solidFill>
                <a:latin typeface="Microsoft YaHei"/>
              </a:defRPr>
            </a:pPr>
            <a:r>
              <a:t>发现有人溺水怎么办？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265176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D47A1"/>
                </a:solidFill>
                <a:latin typeface="Microsoft YaHei"/>
              </a:defRPr>
            </a:pPr>
            <a:r>
              <a:t>第一步：大声呼救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2286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232E"/>
                </a:solidFill>
                <a:latin typeface="Microsoft YaHei"/>
              </a:defRPr>
            </a:pPr>
            <a:r>
              <a:t>立即大声呼喊，引起周围成年人注意</a:t>
            </a:r>
            <a:br/>
            <a:r>
              <a:t>拨打110报警、120急救电话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11880" y="1463040"/>
            <a:ext cx="265176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94760" y="164592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D47A1"/>
                </a:solidFill>
                <a:latin typeface="Microsoft YaHei"/>
              </a:defRPr>
            </a:pPr>
            <a:r>
              <a:t>第二步：寻找救援工具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2286000"/>
            <a:ext cx="2286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232E"/>
                </a:solidFill>
                <a:latin typeface="Microsoft YaHei"/>
              </a:defRPr>
            </a:pPr>
            <a:r>
              <a:t>寻找救生圈、竹竿、绳子等</a:t>
            </a:r>
            <a:br/>
            <a:r>
              <a:t>抛给溺水者，让其抓住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1463040"/>
            <a:ext cx="265176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164592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D47A1"/>
                </a:solidFill>
                <a:latin typeface="Microsoft YaHei"/>
              </a:defRPr>
            </a:pPr>
            <a:r>
              <a:t>第三步：绝不盲目下水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286000"/>
            <a:ext cx="2286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232E"/>
                </a:solidFill>
                <a:latin typeface="Microsoft YaHei"/>
              </a:defRPr>
            </a:pPr>
            <a:r>
              <a:t>未成年人不要下水施救！</a:t>
            </a:r>
            <a:br/>
            <a:r>
              <a:t>你不是专业救生员，贸然下水极其危险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72600" y="1463040"/>
            <a:ext cx="265176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55480" y="164592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D47A1"/>
                </a:solidFill>
                <a:latin typeface="Microsoft YaHei"/>
              </a:defRPr>
            </a:pPr>
            <a:r>
              <a:t>第四步：协助救援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55480" y="2286000"/>
            <a:ext cx="2286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232E"/>
                </a:solidFill>
                <a:latin typeface="Microsoft YaHei"/>
              </a:defRPr>
            </a:pPr>
            <a:r>
              <a:t>配合成年人进行救援</a:t>
            </a:r>
            <a:br/>
            <a:r>
              <a:t>救上岸后协助进行简单急救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5303520"/>
            <a:ext cx="10332720" cy="82296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5349240"/>
            <a:ext cx="9784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⚠️ 切记：保己救人！保证自身安全是第一位的，不要做无谓的牺牲！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F2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Wave 1"/>
          <p:cNvSpPr/>
          <p:nvPr/>
        </p:nvSpPr>
        <p:spPr>
          <a:xfrm>
            <a:off x="0" y="5486400"/>
            <a:ext cx="12191695" cy="1371600"/>
          </a:xfrm>
          <a:prstGeom prst="wave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D47A1"/>
                </a:solidFill>
                <a:latin typeface="Microsoft YaHei"/>
              </a:defRPr>
            </a:pPr>
            <a:r>
              <a:t>自己不慎落水如何自救？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47472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C3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5544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D47A1"/>
                </a:solidFill>
                <a:latin typeface="Microsoft YaHei"/>
              </a:defRPr>
            </a:pPr>
            <a:r>
              <a:t>保持冷静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0312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232E"/>
                </a:solidFill>
                <a:latin typeface="Microsoft YaHei"/>
              </a:defRPr>
            </a:pPr>
            <a:r>
              <a:t>不要慌张，不要胡乱挣扎</a:t>
            </a:r>
            <a:br/>
            <a:r>
              <a:t>慌乱会加速体力消耗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59" y="1371600"/>
            <a:ext cx="347472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C3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79" y="15544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D47A1"/>
                </a:solidFill>
                <a:latin typeface="Microsoft YaHei"/>
              </a:defRPr>
            </a:pPr>
            <a:r>
              <a:t>仰面漂浮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79" y="210312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232E"/>
                </a:solidFill>
                <a:latin typeface="Microsoft YaHei"/>
              </a:defRPr>
            </a:pPr>
            <a:r>
              <a:t>身体后仰，口鼻露出水面</a:t>
            </a:r>
            <a:br/>
            <a:r>
              <a:t>深吸浅呼，保存体力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598" y="1371600"/>
            <a:ext cx="347472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C3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18" y="15544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D47A1"/>
                </a:solidFill>
                <a:latin typeface="Microsoft YaHei"/>
              </a:defRPr>
            </a:pPr>
            <a:r>
              <a:t>呼救待援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18" y="210312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232E"/>
                </a:solidFill>
                <a:latin typeface="Microsoft YaHei"/>
              </a:defRPr>
            </a:pPr>
            <a:r>
              <a:t>挥手呼救，等待救援</a:t>
            </a:r>
            <a:br/>
            <a:r>
              <a:t>不要拼命游向岸边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931920"/>
            <a:ext cx="347472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C3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1148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D47A1"/>
                </a:solidFill>
                <a:latin typeface="Microsoft YaHei"/>
              </a:defRPr>
            </a:pPr>
            <a:r>
              <a:t>去除重物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66344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232E"/>
                </a:solidFill>
                <a:latin typeface="Microsoft YaHei"/>
              </a:defRPr>
            </a:pPr>
            <a:r>
              <a:t>脱掉鞋子、重衣服</a:t>
            </a:r>
            <a:br/>
            <a:r>
              <a:t>但不要脱掉所有衣物防失温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80559" y="3931920"/>
            <a:ext cx="347472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C3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79" y="41148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D47A1"/>
                </a:solidFill>
                <a:latin typeface="Microsoft YaHei"/>
              </a:defRPr>
            </a:pPr>
            <a:r>
              <a:t>利用浮物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79" y="466344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232E"/>
                </a:solidFill>
                <a:latin typeface="Microsoft YaHei"/>
              </a:defRPr>
            </a:pPr>
            <a:r>
              <a:t>抓住身边的漂浮物</a:t>
            </a:r>
            <a:br/>
            <a:r>
              <a:t>木板、空水瓶都能救命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598" y="3931920"/>
            <a:ext cx="347472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C3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18" y="41148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D47A1"/>
                </a:solidFill>
                <a:latin typeface="Microsoft YaHei"/>
              </a:defRPr>
            </a:pPr>
            <a:r>
              <a:t>抽筋处理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8" y="466344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232E"/>
                </a:solidFill>
                <a:latin typeface="Microsoft YaHei"/>
              </a:defRPr>
            </a:pPr>
            <a:r>
              <a:t>手指抽筋：握拳用力张开</a:t>
            </a:r>
            <a:br/>
            <a:r>
              <a:t>小腿抽筋：蹬直腿勾脚尖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t>牢记紧急电话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164592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4FC3F7"/>
                </a:solidFill>
                <a:latin typeface="Arial"/>
              </a:defRPr>
            </a:pPr>
            <a:r>
              <a:t>110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5603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Microsoft YaHei"/>
              </a:defRPr>
            </a:pPr>
            <a:r>
              <a:t>报警电话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164592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4FC3F7"/>
                </a:solidFill>
                <a:latin typeface="Arial"/>
              </a:defRPr>
            </a:pPr>
            <a:r>
              <a:t>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25603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Microsoft YaHei"/>
              </a:defRPr>
            </a:pPr>
            <a:r>
              <a:t>急救电话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4FC3F7"/>
                </a:solidFill>
                <a:latin typeface="Arial"/>
              </a:defRPr>
            </a:pPr>
            <a:r>
              <a:t>119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5603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Microsoft YaHei"/>
              </a:defRPr>
            </a:pPr>
            <a:r>
              <a:t>火警电话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164592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4FC3F7"/>
                </a:solidFill>
                <a:latin typeface="Arial"/>
              </a:defRPr>
            </a:pPr>
            <a:r>
              <a:t>12395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25603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Microsoft YaHei"/>
              </a:defRPr>
            </a:pPr>
            <a:r>
              <a:t>水上救援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0040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Microsoft YaHei"/>
              </a:defRPr>
            </a:pPr>
            <a:r>
              <a:t>‼️ 打电话时要说清楚：</a:t>
            </a:r>
            <a:br/>
            <a:r>
              <a:t>① 发生了什么（有人溺水）</a:t>
            </a:r>
            <a:br/>
            <a:r>
              <a:t>② 具体位置（附近有什么标志性建筑）</a:t>
            </a:r>
            <a:br/>
            <a:r>
              <a:t>③ 溺水者情况（人数、状态）</a:t>
            </a:r>
            <a:br/>
            <a:r>
              <a:t>④ 保持电话畅通，派人接应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F2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Wave 1"/>
          <p:cNvSpPr/>
          <p:nvPr/>
        </p:nvSpPr>
        <p:spPr>
          <a:xfrm>
            <a:off x="0" y="5486400"/>
            <a:ext cx="12191695" cy="1371600"/>
          </a:xfrm>
          <a:prstGeom prst="wave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D47A1"/>
                </a:solidFill>
                <a:latin typeface="Microsoft YaHei"/>
              </a:defRPr>
            </a:pPr>
            <a:r>
              <a:t>给家长的四知道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645920"/>
            <a:ext cx="2377440" cy="2011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82880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9800"/>
                </a:solidFill>
                <a:latin typeface="Microsoft YaHei"/>
              </a:defRPr>
            </a:pPr>
            <a:r>
              <a:t>知道去向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6888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1A232E"/>
                </a:solidFill>
                <a:latin typeface="Microsoft YaHei"/>
              </a:defRPr>
            </a:pPr>
            <a:r>
              <a:t>孩子去了哪里？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0" y="1645920"/>
            <a:ext cx="2377440" cy="2011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0" y="182880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9800"/>
                </a:solidFill>
                <a:latin typeface="Microsoft YaHei"/>
              </a:defRPr>
            </a:pPr>
            <a:r>
              <a:t>知道同伴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46888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1A232E"/>
                </a:solidFill>
                <a:latin typeface="Microsoft YaHei"/>
              </a:defRPr>
            </a:pPr>
            <a:r>
              <a:t>孩子和谁一起？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645920"/>
            <a:ext cx="2377440" cy="2011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82880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9800"/>
                </a:solidFill>
                <a:latin typeface="Microsoft YaHei"/>
              </a:defRPr>
            </a:pPr>
            <a:r>
              <a:t>知道内容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1A232E"/>
                </a:solidFill>
                <a:latin typeface="Microsoft YaHei"/>
              </a:defRPr>
            </a:pPr>
            <a:r>
              <a:t>孩子去做什么？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0" y="1645920"/>
            <a:ext cx="2377440" cy="2011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0" y="182880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9800"/>
                </a:solidFill>
                <a:latin typeface="Microsoft YaHei"/>
              </a:defRPr>
            </a:pPr>
            <a:r>
              <a:t>知道归时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0" y="246888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1A232E"/>
                </a:solidFill>
                <a:latin typeface="Microsoft YaHei"/>
              </a:defRPr>
            </a:pPr>
            <a:r>
              <a:t>孩子何时回来？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1148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A232E"/>
                </a:solidFill>
                <a:latin typeface="Microsoft YaHei"/>
              </a:defRPr>
            </a:pPr>
            <a:r>
              <a:t>家长请做到：</a:t>
            </a:r>
            <a:br/>
            <a:r>
              <a:t>• 带孩子去正规游泳馆，全程陪同监护</a:t>
            </a:r>
            <a:br/>
            <a:r>
              <a:t>• 家中水缸、水桶加盖，卫生间不用时关门</a:t>
            </a:r>
            <a:br/>
            <a:r>
              <a:t>• 教会孩子基本的自救和求救方法</a:t>
            </a:r>
            <a:br/>
            <a:r>
              <a:t>• 外出游玩时时刻关注孩子动向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Microsoft YaHei"/>
              </a:defRPr>
            </a:pPr>
            <a:r>
              <a:t>我承诺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01168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Microsoft YaHei"/>
              </a:defRPr>
            </a:pPr>
            <a:r>
              <a:t>珍爱生命，远离危险水域</a:t>
            </a:r>
            <a:br/>
            <a:r>
              <a:t>不私自下水游泳，不擅自结伴游泳</a:t>
            </a:r>
            <a:br/>
            <a:r>
              <a:t>不在无家长带领时游泳</a:t>
            </a:r>
            <a:br/>
            <a:r>
              <a:t>不到无安全设施的水域游泳</a:t>
            </a:r>
            <a:br/>
            <a:br/>
            <a:r>
              <a:t>学会基本的自护自救方法</a:t>
            </a:r>
            <a:br/>
            <a:r>
              <a:t>发现险情及时报告，不盲目施救</a:t>
            </a:r>
            <a:br/>
            <a:br/>
            <a:r>
              <a:t>让安全陪伴整个暑假！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4FC3F7"/>
                </a:solidFill>
                <a:latin typeface="Microsoft YaHei"/>
              </a:defRPr>
            </a:pPr>
            <a:r>
              <a:t>祝同学们度过一个平安、快乐的暑假！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