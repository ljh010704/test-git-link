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0"/>
            <a:ext cx="1645920" cy="164592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57200"/>
            <a:ext cx="1371600" cy="13716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5029200"/>
            <a:ext cx="731520" cy="73152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1828800"/>
            <a:ext cx="5029200" cy="5029200"/>
          </a:xfrm>
          <a:prstGeom prst="ellipse">
            <a:avLst/>
          </a:prstGeom>
          <a:solidFill>
            <a:srgbClr val="06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2743200"/>
            <a:ext cx="3200400" cy="32004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-914400" y="5486400"/>
            <a:ext cx="731520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5486400"/>
            <a:ext cx="731520" cy="18288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5486400"/>
            <a:ext cx="731520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5486400"/>
            <a:ext cx="731520" cy="18288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08960" y="5486400"/>
            <a:ext cx="731520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5486400"/>
            <a:ext cx="731520" cy="18288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0" y="5486400"/>
            <a:ext cx="731520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5486400"/>
            <a:ext cx="731520" cy="18288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0" y="5486400"/>
            <a:ext cx="731520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5486400"/>
            <a:ext cx="731520" cy="18288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0" y="5486400"/>
            <a:ext cx="731520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149840" y="5486400"/>
            <a:ext cx="731520" cy="18288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155680" y="5486400"/>
            <a:ext cx="731520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161520" y="5486400"/>
            <a:ext cx="731520" cy="18288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167360" y="5486400"/>
            <a:ext cx="731520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1645920"/>
            <a:ext cx="59436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19202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珍爱生命  预防溺水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3832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9688"/>
                </a:solidFill>
                <a:latin typeface="Microsoft YaHei"/>
              </a:defRPr>
            </a:pPr>
            <a:r>
              <a:t>初中生暑假安全教育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206240"/>
            <a:ext cx="228600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4805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CCEE"/>
                </a:solidFill>
                <a:latin typeface="Microsoft YaHei"/>
              </a:defRPr>
            </a:pPr>
            <a:r>
              <a:t>安全第一 · 珍爱生命 · 远离危险水域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3093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主题班会 | 2026年暑假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B3D91"/>
                </a:solidFill>
                <a:latin typeface="Microsoft YaHei"/>
              </a:defRPr>
            </a:pPr>
            <a:r>
              <a:t>溺水——不容忽视的安全威胁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数据告诉你，溺水离我们并不遥远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0E4E8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29260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D84335"/>
                </a:solidFill>
                <a:latin typeface="Microsoft YaHei"/>
              </a:defRPr>
            </a:pPr>
            <a:r>
              <a:t>5.7万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1B1B"/>
                </a:solidFill>
                <a:latin typeface="Microsoft YaHei"/>
              </a:defRPr>
            </a:pPr>
            <a:r>
              <a:t>人/年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657600"/>
            <a:ext cx="2834640" cy="91440"/>
          </a:xfrm>
          <a:prstGeom prst="roundRect">
            <a:avLst/>
          </a:prstGeom>
          <a:solidFill>
            <a:srgbClr val="E0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3657600"/>
            <a:ext cx="2409444" cy="91440"/>
          </a:xfrm>
          <a:prstGeom prst="roundRect">
            <a:avLst/>
          </a:prstGeom>
          <a:solidFill>
            <a:srgbClr val="D8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全国每年溺水死亡人数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645920"/>
            <a:ext cx="3383280" cy="29260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19202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F6C00"/>
                </a:solidFill>
                <a:latin typeface="Microsoft YaHei"/>
              </a:defRPr>
            </a:pPr>
            <a:r>
              <a:t>60%+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926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1B1B"/>
                </a:solidFill>
                <a:latin typeface="Microsoft YaHei"/>
              </a:defRPr>
            </a:pPr>
            <a:r>
              <a:t>中小学生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79" y="3657600"/>
            <a:ext cx="2834640" cy="91440"/>
          </a:xfrm>
          <a:prstGeom prst="roundRect">
            <a:avLst/>
          </a:prstGeom>
          <a:solidFill>
            <a:srgbClr val="E0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54879" y="3657600"/>
            <a:ext cx="1700784" cy="91440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3931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溺水死亡中小学生占比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598" y="1645920"/>
            <a:ext cx="3383280" cy="292608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18" y="19202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B3D91"/>
                </a:solidFill>
                <a:latin typeface="Microsoft YaHei"/>
              </a:defRPr>
            </a:pPr>
            <a:r>
              <a:t>7-8月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8" y="2926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1B1B"/>
                </a:solidFill>
                <a:latin typeface="Microsoft YaHei"/>
              </a:defRPr>
            </a:pPr>
            <a:r>
              <a:t>暑假期间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18" y="3657600"/>
            <a:ext cx="2834640" cy="91440"/>
          </a:xfrm>
          <a:prstGeom prst="roundRect">
            <a:avLst/>
          </a:prstGeom>
          <a:solidFill>
            <a:srgbClr val="E0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03918" y="3657600"/>
            <a:ext cx="2551176" cy="91440"/>
          </a:xfrm>
          <a:prstGeom prst="round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18" y="3931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溺水事故最高发时段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029200"/>
            <a:ext cx="10698480" cy="109728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029200"/>
            <a:ext cx="54864" cy="10972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12064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3D91"/>
                </a:solidFill>
                <a:latin typeface="Microsoft YaHei"/>
              </a:defRPr>
            </a:pPr>
            <a:r>
              <a:t>据国家卫健委统计，溺水是我国 1-14 岁儿童意外死亡的第一位原因。</a:t>
            </a:r>
          </a:p>
          <a:p>
            <a:pPr>
              <a:defRPr sz="1500">
                <a:solidFill>
                  <a:srgbClr val="666666"/>
                </a:solidFill>
                <a:latin typeface="Microsoft YaHei"/>
              </a:defRPr>
            </a:pPr>
            <a:r>
              <a:t>每一起溺水事故背后，都是一个家庭的破碎。防溺水安全教育，刻不容缓！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B3D91"/>
                </a:solidFill>
                <a:latin typeface="Microsoft YaHei"/>
              </a:defRPr>
            </a:pPr>
            <a:r>
              <a:t>危险水域识别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水面之下，危机四伏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0E4E8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474720" cy="45720"/>
          </a:xfrm>
          <a:prstGeom prst="roundRect">
            <a:avLst/>
          </a:prstGeom>
          <a:solidFill>
            <a:srgbClr val="D8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34747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1B1B"/>
                </a:solidFill>
                <a:latin typeface="Microsoft YaHei"/>
              </a:defRPr>
            </a:pPr>
            <a:r>
              <a:t>野外河流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94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84335"/>
                </a:solidFill>
                <a:latin typeface="Microsoft YaHei"/>
              </a:defRPr>
            </a:pPr>
            <a:r>
              <a:t>水流湍急，地形复杂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暗流漩涡多，水温温差大，水下不可见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55448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59" y="1554480"/>
            <a:ext cx="3474720" cy="45720"/>
          </a:xfrm>
          <a:prstGeom prst="roundRect">
            <a:avLst/>
          </a:prstGeom>
          <a:solidFill>
            <a:srgbClr val="D8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9" y="1600200"/>
            <a:ext cx="34747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1B1B"/>
                </a:solidFill>
                <a:latin typeface="Microsoft YaHei"/>
              </a:defRPr>
            </a:pPr>
            <a:r>
              <a:t>水库·湖泊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2194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84335"/>
                </a:solidFill>
                <a:latin typeface="Microsoft YaHei"/>
              </a:defRPr>
            </a:pPr>
            <a:r>
              <a:t>水深难测，水温低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26517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容易抽筋，淤泥松软陷人，无救援设施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598" y="155448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598" y="1554480"/>
            <a:ext cx="3474720" cy="45720"/>
          </a:xfrm>
          <a:prstGeom prst="roundRect">
            <a:avLst/>
          </a:prstGeom>
          <a:solidFill>
            <a:srgbClr val="D8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598" y="1600200"/>
            <a:ext cx="34747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198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1B1B"/>
                </a:solidFill>
                <a:latin typeface="Microsoft YaHei"/>
              </a:defRPr>
            </a:pPr>
            <a:r>
              <a:t>海边·江边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198" y="2194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84335"/>
                </a:solidFill>
                <a:latin typeface="Microsoft YaHei"/>
              </a:defRPr>
            </a:pPr>
            <a:r>
              <a:t>暗流离岸流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198" y="26517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潮汐变化快，无救生设施，救援困难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02336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4023360"/>
            <a:ext cx="3474720" cy="45720"/>
          </a:xfrm>
          <a:prstGeom prst="roundRect">
            <a:avLst/>
          </a:prstGeom>
          <a:solidFill>
            <a:srgbClr val="D8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069080"/>
            <a:ext cx="34747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251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1B1B"/>
                </a:solidFill>
                <a:latin typeface="Microsoft YaHei"/>
              </a:defRPr>
            </a:pPr>
            <a:r>
              <a:t>工地水坑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663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84335"/>
                </a:solidFill>
                <a:latin typeface="Microsoft YaHei"/>
              </a:defRPr>
            </a:pPr>
            <a:r>
              <a:t>雨后积水，边沿松软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120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位置隐蔽无人注意，水深不可知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59" y="402336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80559" y="4023360"/>
            <a:ext cx="3474720" cy="45720"/>
          </a:xfrm>
          <a:prstGeom prst="roundRect">
            <a:avLst/>
          </a:prstGeom>
          <a:solidFill>
            <a:srgbClr val="D8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0559" y="4069080"/>
            <a:ext cx="34747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59" y="4251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1B1B"/>
                </a:solidFill>
                <a:latin typeface="Microsoft YaHei"/>
              </a:defRPr>
            </a:pPr>
            <a:r>
              <a:t>池塘·沟渠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59" y="4663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84335"/>
                </a:solidFill>
                <a:latin typeface="Microsoft YaHei"/>
              </a:defRPr>
            </a:pPr>
            <a:r>
              <a:t>杂草丛生，水质浑浊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59" y="5120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水草丛生易缠脚，深浅突变容易滑落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6309360"/>
            <a:ext cx="10698480" cy="3200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631850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F6C00"/>
                </a:solidFill>
                <a:latin typeface="Microsoft YaHei"/>
              </a:defRPr>
            </a:pPr>
            <a:r>
              <a:t>看似平静的水面下，可能暗藏漩涡、暗流、水草和淤泥——不是所有危险都肉眼可见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A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E4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26481"/>
            <a:ext cx="12191695" cy="731519"/>
          </a:xfrm>
          <a:prstGeom prst="rect">
            <a:avLst/>
          </a:prstGeom>
          <a:solidFill>
            <a:srgbClr val="114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1"/>
            <a:ext cx="12191695" cy="548639"/>
          </a:xfrm>
          <a:prstGeom prst="rect">
            <a:avLst/>
          </a:prstGeom>
          <a:solidFill>
            <a:srgbClr val="14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1"/>
            <a:ext cx="12191695" cy="365759"/>
          </a:xfrm>
          <a:prstGeom prst="rect">
            <a:avLst/>
          </a:prstGeom>
          <a:solidFill>
            <a:srgbClr val="174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1"/>
            <a:ext cx="12191695" cy="182879"/>
          </a:xfrm>
          <a:prstGeom prst="rect">
            <a:avLst/>
          </a:prstGeom>
          <a:solidFill>
            <a:srgbClr val="1A4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457200"/>
            <a:ext cx="54864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防溺水 · 六不准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0BBEE"/>
                </a:solidFill>
                <a:latin typeface="Microsoft YaHei"/>
              </a:defRPr>
            </a:pPr>
            <a:r>
              <a:t>不是「建议」，是「必须」——每一条都是用生命换来的教训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0E4E8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645920"/>
            <a:ext cx="5303520" cy="1234440"/>
          </a:xfrm>
          <a:prstGeom prst="roundRect">
            <a:avLst/>
          </a:prstGeom>
          <a:solidFill>
            <a:srgbClr val="0E499B"/>
          </a:solidFill>
          <a:ln w="12700">
            <a:solidFill>
              <a:srgbClr val="1A6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" y="1874520"/>
            <a:ext cx="685800" cy="6858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1938528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92024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不准私自下水游泳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45920"/>
            <a:ext cx="5303520" cy="1234440"/>
          </a:xfrm>
          <a:prstGeom prst="roundRect">
            <a:avLst/>
          </a:prstGeom>
          <a:solidFill>
            <a:srgbClr val="0E499B"/>
          </a:solidFill>
          <a:ln w="12700">
            <a:solidFill>
              <a:srgbClr val="1A6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9400" y="1874520"/>
            <a:ext cx="685800" cy="6858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938528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192024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不准擅自与他人结伴游泳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154680"/>
            <a:ext cx="5303520" cy="1234440"/>
          </a:xfrm>
          <a:prstGeom prst="roundRect">
            <a:avLst/>
          </a:prstGeom>
          <a:solidFill>
            <a:srgbClr val="0E499B"/>
          </a:solidFill>
          <a:ln w="12700">
            <a:solidFill>
              <a:srgbClr val="1A6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3383280"/>
            <a:ext cx="685800" cy="6858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447288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42900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不准在无家长或老师带领的情况下游泳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154680"/>
            <a:ext cx="5303520" cy="1234440"/>
          </a:xfrm>
          <a:prstGeom prst="roundRect">
            <a:avLst/>
          </a:prstGeom>
          <a:solidFill>
            <a:srgbClr val="0E499B"/>
          </a:solidFill>
          <a:ln w="12700">
            <a:solidFill>
              <a:srgbClr val="1A6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629400" y="3383280"/>
            <a:ext cx="685800" cy="6858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447288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42900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不准到无安全设施、无救护人员的水域游泳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663440"/>
            <a:ext cx="5303520" cy="1234440"/>
          </a:xfrm>
          <a:prstGeom prst="roundRect">
            <a:avLst/>
          </a:prstGeom>
          <a:solidFill>
            <a:srgbClr val="0E499B"/>
          </a:solidFill>
          <a:ln w="12700">
            <a:solidFill>
              <a:srgbClr val="1A6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" y="4892040"/>
            <a:ext cx="685800" cy="6858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956048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9377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不准到不熟悉的水域游泳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663440"/>
            <a:ext cx="5303520" cy="1234440"/>
          </a:xfrm>
          <a:prstGeom prst="roundRect">
            <a:avLst/>
          </a:prstGeom>
          <a:solidFill>
            <a:srgbClr val="0E499B"/>
          </a:solidFill>
          <a:ln w="12700">
            <a:solidFill>
              <a:srgbClr val="1A6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29400" y="4892040"/>
            <a:ext cx="685800" cy="6858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4956048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0" y="49377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不准不熟悉水性的学生擅自下水施救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28800" y="6263640"/>
            <a:ext cx="8503920" cy="320040"/>
          </a:xfrm>
          <a:prstGeom prst="roundRect">
            <a:avLst/>
          </a:prstGeom>
          <a:solidFill>
            <a:srgbClr val="D8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03120" y="626364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以上六条，违反任何一条都可能付出生命的代价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B3D91"/>
                </a:solidFill>
                <a:latin typeface="Microsoft YaHei"/>
              </a:defRPr>
            </a:pPr>
            <a:r>
              <a:t>发现有人溺水，应该怎么做？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正确的反应能挽救生命——冷静比勇敢更重要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0E4E8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60604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2606040" cy="1371600"/>
          </a:xfrm>
          <a:prstGeom prst="round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2606040" cy="27432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9164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402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大声呼救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08960"/>
            <a:ext cx="2148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1B"/>
                </a:solidFill>
                <a:latin typeface="Microsoft YaHei"/>
              </a:defRPr>
            </a:pPr>
            <a:r>
              <a:t>立即高声呼啼引起注意</a:t>
            </a:r>
            <a:br/>
            <a:r>
              <a:t>拨打 110 报警、120 急救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54480"/>
            <a:ext cx="260604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11880" y="1554480"/>
            <a:ext cx="2606040" cy="13716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2651760"/>
            <a:ext cx="2606040" cy="274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169164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2402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寻找工具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108960"/>
            <a:ext cx="2148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1B"/>
                </a:solidFill>
                <a:latin typeface="Microsoft YaHei"/>
              </a:defRPr>
            </a:pPr>
            <a:r>
              <a:t>寻找救生圈、竹竿、绳子</a:t>
            </a:r>
            <a:br/>
            <a:r>
              <a:t>抛给溺水者，让其抓住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554480"/>
            <a:ext cx="260604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92240" y="1554480"/>
            <a:ext cx="2606040" cy="1371600"/>
          </a:xfrm>
          <a:prstGeom prst="roundRect">
            <a:avLst/>
          </a:prstGeom>
          <a:solidFill>
            <a:srgbClr val="D8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0" y="2651760"/>
            <a:ext cx="2606040" cy="274320"/>
          </a:xfrm>
          <a:prstGeom prst="rect">
            <a:avLst/>
          </a:prstGeom>
          <a:solidFill>
            <a:srgbClr val="D8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169164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2402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切勿下水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108960"/>
            <a:ext cx="2148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1B"/>
                </a:solidFill>
                <a:latin typeface="Microsoft YaHei"/>
              </a:defRPr>
            </a:pPr>
            <a:r>
              <a:t>未成年人绝不要下水施救！</a:t>
            </a:r>
            <a:br/>
            <a:r>
              <a:t>贸然下水极其危险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2600" y="1554480"/>
            <a:ext cx="260604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72600" y="1554480"/>
            <a:ext cx="2606040" cy="13716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72600" y="2651760"/>
            <a:ext cx="2606040" cy="274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6920" y="169164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22402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协助救援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108960"/>
            <a:ext cx="2148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1B"/>
                </a:solidFill>
                <a:latin typeface="Microsoft YaHei"/>
              </a:defRPr>
            </a:pPr>
            <a:r>
              <a:t>配合成年人进行救援</a:t>
            </a:r>
            <a:br/>
            <a:r>
              <a:t>上岸后协助保暖和急救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6035040"/>
            <a:ext cx="10698480" cy="548640"/>
          </a:xfrm>
          <a:prstGeom prst="roundRect">
            <a:avLst/>
          </a:prstGeom>
          <a:solidFill>
            <a:srgbClr val="FDEDEC"/>
          </a:solidFill>
          <a:ln w="19050">
            <a:solidFill>
              <a:srgbClr val="D8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6062472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84335"/>
                </a:solidFill>
                <a:latin typeface="Microsoft YaHei"/>
              </a:defRPr>
            </a:pPr>
            <a:r>
              <a:t>切记：保己救人！保证自身安全是第一原则，不下水施救不是冷漠，是理智。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B3D91"/>
                </a:solidFill>
                <a:latin typeface="Microsoft YaHei"/>
              </a:defRPr>
            </a:pPr>
            <a:r>
              <a:t>不慎落水，如何自救？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慌乱是最大的敌人——记住这 6 个关键动作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0E4E8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7472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4864" cy="20574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3D91"/>
                </a:solidFill>
                <a:latin typeface="Microsoft YaHei"/>
              </a:defRPr>
            </a:pPr>
            <a:r>
              <a:t>保持冷静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1B"/>
                </a:solidFill>
                <a:latin typeface="Microsoft YaHei"/>
              </a:defRPr>
            </a:pPr>
            <a:r>
              <a:t>不要慌张挣扎，慌乱会</a:t>
            </a:r>
            <a:br/>
            <a:r>
              <a:t>加速体力消耗，恶化情况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554480"/>
            <a:ext cx="347472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59" y="1554480"/>
            <a:ext cx="54864" cy="20574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3D91"/>
                </a:solidFill>
                <a:latin typeface="Microsoft YaHei"/>
              </a:defRPr>
            </a:pPr>
            <a:r>
              <a:t>仰面漂浮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1945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1B"/>
                </a:solidFill>
                <a:latin typeface="Microsoft YaHei"/>
              </a:defRPr>
            </a:pPr>
            <a:r>
              <a:t>身体后仰口鼻露出水面</a:t>
            </a:r>
            <a:br/>
            <a:r>
              <a:t>深吸浅呼，保存体力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598" y="1554480"/>
            <a:ext cx="347472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598" y="1554480"/>
            <a:ext cx="54864" cy="20574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18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3D91"/>
                </a:solidFill>
                <a:latin typeface="Microsoft YaHei"/>
              </a:defRPr>
            </a:pPr>
            <a:r>
              <a:t>举手呼救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8" y="21945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1B"/>
                </a:solidFill>
                <a:latin typeface="Microsoft YaHei"/>
              </a:defRPr>
            </a:pPr>
            <a:r>
              <a:t>单臂挥动求救等待救援</a:t>
            </a:r>
            <a:br/>
            <a:r>
              <a:t>不要拼命向岸边游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347472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54864" cy="20574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114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3D91"/>
                </a:solidFill>
                <a:latin typeface="Microsoft YaHei"/>
              </a:defRPr>
            </a:pPr>
            <a:r>
              <a:t>脱掉重物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572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1B"/>
                </a:solidFill>
                <a:latin typeface="Microsoft YaHei"/>
              </a:defRPr>
            </a:pPr>
            <a:r>
              <a:t>脱掉鞋子和厚重外套</a:t>
            </a:r>
            <a:br/>
            <a:r>
              <a:t>保留部分衣物防止失温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3931920"/>
            <a:ext cx="347472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80559" y="3931920"/>
            <a:ext cx="54864" cy="20574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79" y="4114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3D91"/>
                </a:solidFill>
                <a:latin typeface="Microsoft YaHei"/>
              </a:defRPr>
            </a:pPr>
            <a:r>
              <a:t>借助浮物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79" y="4572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1B"/>
                </a:solidFill>
                <a:latin typeface="Microsoft YaHei"/>
              </a:defRPr>
            </a:pPr>
            <a:r>
              <a:t>抓住木板空水瓶等漂浮物</a:t>
            </a:r>
            <a:br/>
            <a:r>
              <a:t>任何能浮的东西都能救命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598" y="3931920"/>
            <a:ext cx="347472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598" y="3931920"/>
            <a:ext cx="54864" cy="20574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18" y="4114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3D91"/>
                </a:solidFill>
                <a:latin typeface="Microsoft YaHei"/>
              </a:defRPr>
            </a:pPr>
            <a:r>
              <a:t>抽筋自救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8" y="4572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1B1B"/>
                </a:solidFill>
                <a:latin typeface="Microsoft YaHei"/>
              </a:defRPr>
            </a:pPr>
            <a:r>
              <a:t>手指抽筋：握拳→用力张开</a:t>
            </a:r>
            <a:br/>
            <a:r>
              <a:t>小腿抽筋：蹬直腿→勾脚尖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A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E4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26481"/>
            <a:ext cx="12191695" cy="731519"/>
          </a:xfrm>
          <a:prstGeom prst="rect">
            <a:avLst/>
          </a:prstGeom>
          <a:solidFill>
            <a:srgbClr val="114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1"/>
            <a:ext cx="12191695" cy="548639"/>
          </a:xfrm>
          <a:prstGeom prst="rect">
            <a:avLst/>
          </a:prstGeom>
          <a:solidFill>
            <a:srgbClr val="14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1"/>
            <a:ext cx="12191695" cy="365759"/>
          </a:xfrm>
          <a:prstGeom prst="rect">
            <a:avLst/>
          </a:prstGeom>
          <a:solidFill>
            <a:srgbClr val="174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1"/>
            <a:ext cx="12191695" cy="182879"/>
          </a:xfrm>
          <a:prstGeom prst="rect">
            <a:avLst/>
          </a:prstGeom>
          <a:solidFill>
            <a:srgbClr val="1A4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457200"/>
            <a:ext cx="54864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紧急求助电话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0BBEE"/>
                </a:solidFill>
                <a:latin typeface="Microsoft YaHei"/>
              </a:defRPr>
            </a:pPr>
            <a:r>
              <a:t>记下这些号码——关键时刻能救命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0E4E8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645920"/>
            <a:ext cx="2606040" cy="3840480"/>
          </a:xfrm>
          <a:prstGeom prst="roundRect">
            <a:avLst/>
          </a:prstGeom>
          <a:solidFill>
            <a:srgbClr val="0E499B"/>
          </a:solidFill>
          <a:ln w="12700">
            <a:solidFill>
              <a:srgbClr val="1A6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17320" y="2011680"/>
            <a:ext cx="1097280" cy="10972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214884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110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报警电话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CCEE"/>
                </a:solidFill>
                <a:latin typeface="Microsoft YaHei"/>
              </a:defRPr>
            </a:pPr>
            <a:r>
              <a:t>遇到危险情况</a:t>
            </a:r>
            <a:br/>
            <a:r>
              <a:t>第一时间拨打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1645920"/>
            <a:ext cx="2606040" cy="3840480"/>
          </a:xfrm>
          <a:prstGeom prst="roundRect">
            <a:avLst/>
          </a:prstGeom>
          <a:solidFill>
            <a:srgbClr val="0E499B"/>
          </a:solidFill>
          <a:ln w="12700">
            <a:solidFill>
              <a:srgbClr val="1A6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97680" y="2011680"/>
            <a:ext cx="1097280" cy="10972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14884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2918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医疗急救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384048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CCEE"/>
                </a:solidFill>
                <a:latin typeface="Microsoft YaHei"/>
              </a:defRPr>
            </a:pPr>
            <a:r>
              <a:t>有人受伤或溺水</a:t>
            </a:r>
            <a:br/>
            <a:r>
              <a:t>需要紧急医疗救助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645920"/>
            <a:ext cx="2606040" cy="3840480"/>
          </a:xfrm>
          <a:prstGeom prst="roundRect">
            <a:avLst/>
          </a:prstGeom>
          <a:solidFill>
            <a:srgbClr val="0E499B"/>
          </a:solidFill>
          <a:ln w="12700">
            <a:solidFill>
              <a:srgbClr val="1A6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2011680"/>
            <a:ext cx="1097280" cy="10972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214884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119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2918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消防救援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84048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CCEE"/>
                </a:solidFill>
                <a:latin typeface="Microsoft YaHei"/>
              </a:defRPr>
            </a:pPr>
            <a:r>
              <a:t>火灾、被困等</a:t>
            </a:r>
            <a:br/>
            <a:r>
              <a:t>紧急救援情况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72600" y="1645920"/>
            <a:ext cx="2606040" cy="3840480"/>
          </a:xfrm>
          <a:prstGeom prst="roundRect">
            <a:avLst/>
          </a:prstGeom>
          <a:solidFill>
            <a:srgbClr val="0E499B"/>
          </a:solidFill>
          <a:ln w="12700">
            <a:solidFill>
              <a:srgbClr val="1A6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58400" y="2011680"/>
            <a:ext cx="1097280" cy="10972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214884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12395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32918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水上救援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384048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CCEE"/>
                </a:solidFill>
                <a:latin typeface="Microsoft YaHei"/>
              </a:defRPr>
            </a:pPr>
            <a:r>
              <a:t>国家水上遇险</a:t>
            </a:r>
            <a:br/>
            <a:r>
              <a:t>求救专线电话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760720"/>
            <a:ext cx="10698480" cy="822960"/>
          </a:xfrm>
          <a:prstGeom prst="roundRect">
            <a:avLst/>
          </a:prstGeom>
          <a:solidFill>
            <a:srgbClr val="0E499B"/>
          </a:solidFill>
          <a:ln w="12700">
            <a:solidFill>
              <a:srgbClr val="1A6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806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打电话时请说清：① 发生了什么  -&gt;  ② 具体位置（附近醒目标志） -&gt;  ③ 溺水者情况  -&gt;  ④ 保持通话，派人接应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54864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B3D91"/>
                </a:solidFill>
                <a:latin typeface="Microsoft YaHei"/>
              </a:defRPr>
            </a:pPr>
            <a:r>
              <a:t>给家长的提醒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孩子安全，家长是第一责任人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0E4E8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606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2606040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2606040" cy="182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27632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知道去向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B1B1B"/>
                </a:solidFill>
                <a:latin typeface="Microsoft YaHei"/>
              </a:defRPr>
            </a:pPr>
            <a:r>
              <a:t>孩子去了哪里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554480"/>
            <a:ext cx="2606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11880" y="1554480"/>
            <a:ext cx="2606040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80" y="2011680"/>
            <a:ext cx="2606040" cy="182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1627632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知道同伴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46888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B1B1B"/>
                </a:solidFill>
                <a:latin typeface="Microsoft YaHei"/>
              </a:defRPr>
            </a:pPr>
            <a:r>
              <a:t>和谁在一起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554480"/>
            <a:ext cx="2606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1554480"/>
            <a:ext cx="2606040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2011680"/>
            <a:ext cx="2606040" cy="182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627632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知道内容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46888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B1B1B"/>
                </a:solidFill>
                <a:latin typeface="Microsoft YaHei"/>
              </a:defRPr>
            </a:pPr>
            <a:r>
              <a:t>去做什么活动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1554480"/>
            <a:ext cx="2606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72600" y="1554480"/>
            <a:ext cx="2606040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72600" y="2011680"/>
            <a:ext cx="2606040" cy="182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1627632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知道归时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46888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B1B1B"/>
                </a:solidFill>
                <a:latin typeface="Microsoft YaHei"/>
              </a:defRPr>
            </a:pPr>
            <a:r>
              <a:t>什么时候回来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206240"/>
            <a:ext cx="10698480" cy="22860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389120"/>
            <a:ext cx="9875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B3D91"/>
                </a:solidFill>
                <a:latin typeface="Microsoft YaHei"/>
              </a:defRPr>
            </a:pPr>
            <a:r>
              <a:t>家长安全指南</a:t>
            </a:r>
          </a:p>
          <a:p>
            <a:pPr>
              <a:defRPr sz="800" b="0">
                <a:solidFill>
                  <a:srgbClr val="1B1B1B"/>
                </a:solidFill>
                <a:latin typeface="Microsoft YaHei"/>
              </a:defRPr>
            </a:pPr>
          </a:p>
          <a:p>
            <a:pPr>
              <a:defRPr sz="1500" b="0">
                <a:solidFill>
                  <a:srgbClr val="1B1B1B"/>
                </a:solidFill>
                <a:latin typeface="Microsoft YaHei"/>
              </a:defRPr>
            </a:pPr>
            <a:r>
              <a:t>• 带孩子去正规游泳馆，全程陪同监护，勿让孩子离开视线</a:t>
            </a:r>
          </a:p>
          <a:p>
            <a:pPr>
              <a:defRPr sz="1500" b="0">
                <a:solidFill>
                  <a:srgbClr val="1B1B1B"/>
                </a:solidFill>
                <a:latin typeface="Microsoft YaHei"/>
              </a:defRPr>
            </a:pPr>
            <a:r>
              <a:t>• 家中水缸、水桶及时加盖；卫生间不用时锁门</a:t>
            </a:r>
          </a:p>
          <a:p>
            <a:pPr>
              <a:defRPr sz="1500" b="0">
                <a:solidFill>
                  <a:srgbClr val="1B1B1B"/>
                </a:solidFill>
                <a:latin typeface="Microsoft YaHei"/>
              </a:defRPr>
            </a:pPr>
            <a:r>
              <a:t>• 教会孩子基本的自救和求救方法，熟记紧急电话</a:t>
            </a:r>
          </a:p>
          <a:p>
            <a:pPr>
              <a:defRPr sz="1500" b="0">
                <a:solidFill>
                  <a:srgbClr val="1B1B1B"/>
                </a:solidFill>
                <a:latin typeface="Microsoft YaHei"/>
              </a:defRPr>
            </a:pPr>
            <a:r>
              <a:t>• 外出游玩时时刻关注孩子动向，不在水边玩手机</a:t>
            </a:r>
          </a:p>
          <a:p>
            <a:pPr>
              <a:defRPr sz="1500" b="0">
                <a:solidFill>
                  <a:srgbClr val="1B1B1B"/>
                </a:solidFill>
                <a:latin typeface="Microsoft YaHei"/>
              </a:defRPr>
            </a:pPr>
            <a:r>
              <a:t>• 发现其他孩子独自在水边玩耍，主动提醒或联系家长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5029200"/>
            <a:ext cx="2743200" cy="27432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457200"/>
            <a:ext cx="1828800" cy="18288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5486400"/>
            <a:ext cx="1097280" cy="109728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731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我承诺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01168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  珍爱生命，远离危险水域</a:t>
            </a:r>
          </a:p>
          <a:p>
            <a:pPr algn="ctr">
              <a:spcAft>
                <a:spcPts val="6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  不私自下水游泳，不擅自结伴游泳</a:t>
            </a:r>
          </a:p>
          <a:p>
            <a:pPr algn="ctr">
              <a:spcAft>
                <a:spcPts val="6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  不在无家长带领时游泳</a:t>
            </a:r>
          </a:p>
          <a:p>
            <a:pPr algn="ctr">
              <a:spcAft>
                <a:spcPts val="6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  不到无安全设施、无救援人员的水域游泳</a:t>
            </a:r>
          </a:p>
          <a:p>
            <a:pPr>
              <a:spcAft>
                <a:spcPts val="800"/>
              </a:spcAft>
            </a:pPr>
          </a:p>
          <a:p>
            <a:pPr algn="ctr">
              <a:spcAft>
                <a:spcPts val="6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  学会基本的自护自救方法</a:t>
            </a:r>
          </a:p>
          <a:p>
            <a:pPr algn="ctr">
              <a:spcAft>
                <a:spcPts val="6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  发现险情及时报告，不盲目下水施救</a:t>
            </a:r>
          </a:p>
          <a:p>
            <a:pPr>
              <a:spcAft>
                <a:spcPts val="800"/>
              </a:spcAft>
            </a:pPr>
          </a:p>
          <a:p>
            <a:pPr algn="ctr">
              <a:spcAft>
                <a:spcPts val="6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  让安全陪伴整个暑假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5669280"/>
            <a:ext cx="301752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58521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CCEE"/>
                </a:solidFill>
                <a:latin typeface="Microsoft YaHei"/>
              </a:defRPr>
            </a:pPr>
            <a:r>
              <a:t>祝同学们度过一个平安、健康、快乐的暑假！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0E4E8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A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E4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26481"/>
            <a:ext cx="12191695" cy="731519"/>
          </a:xfrm>
          <a:prstGeom prst="rect">
            <a:avLst/>
          </a:prstGeom>
          <a:solidFill>
            <a:srgbClr val="114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1"/>
            <a:ext cx="12191695" cy="548639"/>
          </a:xfrm>
          <a:prstGeom prst="rect">
            <a:avLst/>
          </a:prstGeom>
          <a:solidFill>
            <a:srgbClr val="14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1"/>
            <a:ext cx="12191695" cy="365759"/>
          </a:xfrm>
          <a:prstGeom prst="rect">
            <a:avLst/>
          </a:prstGeom>
          <a:solidFill>
            <a:srgbClr val="174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1"/>
            <a:ext cx="12191695" cy="182879"/>
          </a:xfrm>
          <a:prstGeom prst="rect">
            <a:avLst/>
          </a:prstGeom>
          <a:solidFill>
            <a:srgbClr val="1A4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谢谢观看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3200400"/>
            <a:ext cx="265176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688"/>
                </a:solidFill>
                <a:latin typeface="Microsoft YaHei"/>
              </a:defRPr>
            </a:pPr>
            <a:r>
              <a:t>安全无小事  防患于未然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BBEE"/>
                </a:solidFill>
                <a:latin typeface="Microsoft YaHei"/>
              </a:defRPr>
            </a:pPr>
            <a:r>
              <a:t>2026年暑假防溺水安全教育主题班会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0E4E8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